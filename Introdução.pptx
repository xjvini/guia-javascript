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Urbanist"/>
      <p:regular r:id="rId18"/>
      <p:bold r:id="rId19"/>
      <p:italic r:id="rId20"/>
      <p:boldItalic r:id="rId21"/>
    </p:embeddedFont>
    <p:embeddedFont>
      <p:font typeface="Fira Code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22" Type="http://schemas.openxmlformats.org/officeDocument/2006/relationships/font" Target="fonts/FiraCode-regular.fntdata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FiraCod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40d624a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40d624ac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9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8535" y="5232945"/>
            <a:ext cx="3493889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3525" y="5232945"/>
            <a:ext cx="3493889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38535" y="4599520"/>
            <a:ext cx="3493889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3525" y="4599520"/>
            <a:ext cx="3493889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227391" y="1996380"/>
            <a:ext cx="7737300" cy="1584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0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INTRODUÇÃO AO</a:t>
            </a:r>
            <a:r>
              <a:rPr b="1" i="0" lang="en-US" sz="49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4900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JAVASCRIPT</a:t>
            </a:r>
            <a:endParaRPr sz="300"/>
          </a:p>
        </p:txBody>
      </p:sp>
      <p:sp>
        <p:nvSpPr>
          <p:cNvPr id="89" name="Google Shape;89;p13"/>
          <p:cNvSpPr txBox="1"/>
          <p:nvPr/>
        </p:nvSpPr>
        <p:spPr>
          <a:xfrm>
            <a:off x="2338535" y="3757055"/>
            <a:ext cx="736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UFRPE - UABJ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11610" y="471382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06450" y="471382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11610" y="534724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06450" y="534724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mova o fundo da imagem (deixe transparente)" id="94" name="Google Shape;94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3000" y="222825"/>
            <a:ext cx="1765925" cy="1376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00125" y="1136600"/>
            <a:ext cx="4550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 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roblema 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olução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771525" y="1136600"/>
            <a:ext cx="57150" cy="11049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71525" y="2622500"/>
            <a:ext cx="479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Web </a:t>
            </a:r>
            <a:r>
              <a:rPr b="1" lang="en-US" sz="1404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e</a:t>
            </a:r>
            <a:r>
              <a:rPr b="1" i="0" lang="en-US" sz="1404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stática </a:t>
            </a:r>
            <a:r>
              <a:rPr b="1" lang="en-US" sz="1404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vs</a:t>
            </a:r>
            <a:r>
              <a:rPr b="1" i="0" lang="en-US" sz="1404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 Dinâmica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71525" y="3070175"/>
            <a:ext cx="45624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Antigamente, a web era como um jornal: estática e sem vida.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71525" y="4030116"/>
            <a:ext cx="4562475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JavaScript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trouxe a interatividade. É ele quem permite atualizações em tempo real, carrosséis de imagens e notificações instantâneas.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7525" y="2464147"/>
            <a:ext cx="1835199" cy="2863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8474" y="2464147"/>
            <a:ext cx="1835199" cy="2863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9424" y="2464147"/>
            <a:ext cx="1835199" cy="286315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09625" y="1530697"/>
            <a:ext cx="1134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 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base da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eb moderna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81025" y="1530697"/>
            <a:ext cx="57150" cy="5524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3605625" y="3626197"/>
            <a:ext cx="73899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HTML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3257550" y="4216747"/>
            <a:ext cx="143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Estrutura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830181" y="3626197"/>
            <a:ext cx="5317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CSS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591175" y="4216747"/>
            <a:ext cx="10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Estilo 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550925" y="3626197"/>
            <a:ext cx="13321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JavaScript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499449" y="4216747"/>
            <a:ext cx="143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Interatividade</a:t>
            </a:r>
            <a:endParaRPr sz="135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8350" y="2892772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5962" y="2892772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7399" y="2892772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0962" y="2464150"/>
            <a:ext cx="4970075" cy="28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09625" y="1530697"/>
            <a:ext cx="1134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Observações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81025" y="1530697"/>
            <a:ext cx="57300" cy="552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3833400" y="3203775"/>
            <a:ext cx="4525200" cy="13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1.  Linguagem de tipagem fraca</a:t>
            </a:r>
            <a:endParaRPr b="1" sz="155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2. Interpretado e executado no navegador</a:t>
            </a:r>
            <a:endParaRPr b="1" sz="155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3. Atualmente, motores JavaScript analisam e compilam o código</a:t>
            </a:r>
            <a:endParaRPr b="1" sz="155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07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09625" y="1057275"/>
            <a:ext cx="1134141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Variáveis: Guardando Informações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1025" y="1057275"/>
            <a:ext cx="57150" cy="5524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0250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771525" y="2486322"/>
            <a:ext cx="508635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const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Valores constantes, imutáveis. Como uma rocha sólida.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81025" y="2486322"/>
            <a:ext cx="38100" cy="121890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771525" y="4086225"/>
            <a:ext cx="508635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let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Valores mutáveis, fluidos. Como a água que se adapta.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81025" y="4086225"/>
            <a:ext cx="38100" cy="121890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4450" y="199072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809625" y="1057275"/>
            <a:ext cx="1134141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Estruturando Dados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81025" y="1057275"/>
            <a:ext cx="57150" cy="5524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6334125" y="233198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Analogia do Mundo Real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334125" y="2779662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Dados soltos são confusos. O JS organiza isso: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2550" y="2028825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6677025" y="3337738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715125" y="3335833"/>
            <a:ext cx="4895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Array []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É como esta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Lista de Compras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Uma sequência ordenada de itens.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677025" y="4211955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715125" y="4210050"/>
            <a:ext cx="48958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Objeto {}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É como um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Cartão de Identidade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Agrupa características (Nome, Idade) de uma única pessoa.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7550" y="199072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09625" y="1057275"/>
            <a:ext cx="1134141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Lógica de Controle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81025" y="1057275"/>
            <a:ext cx="57150" cy="5524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581025" y="202718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 Tomada de Decisão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81025" y="2474862"/>
            <a:ext cx="5276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código deixa de ser linear e passa a fazer escolhas.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81025" y="3844379"/>
            <a:ext cx="5277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 estruturas </a:t>
            </a:r>
            <a:r>
              <a:rPr b="1" i="1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IF - E</a:t>
            </a:r>
            <a:r>
              <a:rPr b="1" i="1"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LSE IF - ELSE 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funcionam exatamente como uma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bifurcação na estrada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81025" y="4804320"/>
            <a:ext cx="5277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"Se o caminho A estiver livre, vá por ele. Senão, vá pelo caminho B, ou C..."</a:t>
            </a:r>
            <a:endParaRPr/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5650" y="2028825"/>
            <a:ext cx="37338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0725"/>
            <a:ext cx="513189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809625" y="1057275"/>
            <a:ext cx="1134141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No Código: Lavanderia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81025" y="1057275"/>
            <a:ext cx="57150" cy="5524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725983" y="2910036"/>
            <a:ext cx="5131891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Aplicando a lógica no projeto da Lavanderia: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725983" y="4664273"/>
            <a:ext cx="513189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Isso permite que o sistema calcule preços automaticamente.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068883" y="3506212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1106983" y="3504307"/>
            <a:ext cx="47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1"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IF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- 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simples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R$ 20,00</a:t>
            </a:r>
            <a:endParaRPr b="1"/>
          </a:p>
        </p:txBody>
      </p:sp>
      <p:sp>
        <p:nvSpPr>
          <p:cNvPr id="187" name="Google Shape;187;p20"/>
          <p:cNvSpPr txBox="1"/>
          <p:nvPr/>
        </p:nvSpPr>
        <p:spPr>
          <a:xfrm>
            <a:off x="1068883" y="4014757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1106983" y="4012852"/>
            <a:ext cx="47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ELSE IF -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peça pesada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R$ 50,00</a:t>
            </a:r>
            <a:endParaRPr b="1"/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8462" y="3079000"/>
            <a:ext cx="4183225" cy="16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2551807"/>
            <a:ext cx="4286250" cy="2687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51807"/>
            <a:ext cx="4286250" cy="268768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809625" y="1618357"/>
            <a:ext cx="1134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Análise 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écnica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581025" y="1618357"/>
            <a:ext cx="57150" cy="5524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1962150" y="2942332"/>
            <a:ext cx="36804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9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Vantagens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724650" y="2942332"/>
            <a:ext cx="36804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9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Atenção</a:t>
            </a:r>
            <a:endParaRPr/>
          </a:p>
        </p:txBody>
      </p:sp>
      <p:pic>
        <p:nvPicPr>
          <p:cNvPr descr="image.png" id="201" name="Google Shape;20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62150" y="2961382"/>
            <a:ext cx="179337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1962150" y="3313807"/>
            <a:ext cx="3505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Fácil Configuração: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Roda nativo.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962150" y="3822352"/>
            <a:ext cx="3505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Full Stack: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Front e Back-end.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962150" y="4330898"/>
            <a:ext cx="3505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Ecossistema: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Comunidade gigante.</a:t>
            </a:r>
            <a:endParaRPr/>
          </a:p>
        </p:txBody>
      </p:sp>
      <p:pic>
        <p:nvPicPr>
          <p:cNvPr descr="image.png" id="205" name="Google Shape;20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961382"/>
            <a:ext cx="179337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6724650" y="3313807"/>
            <a:ext cx="3505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Tipagem Fraca: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Bugs silenciosos.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724650" y="3822352"/>
            <a:ext cx="3505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Segurança: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Lógica exposta.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724650" y="4330898"/>
            <a:ext cx="3505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Fadiga: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Excesso de frameworks.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526160"/>
            <a:ext cx="4562475" cy="106858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1000125" y="1263253"/>
            <a:ext cx="455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Na 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rática: 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ackend</a:t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771525" y="1263253"/>
            <a:ext cx="57150" cy="5524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771525" y="2425303"/>
            <a:ext cx="45624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JavaScript saiu do navegador com o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Node.js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771525" y="3385244"/>
            <a:ext cx="45624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Nosso exemplo cria um servidor HTTP real.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1000125" y="4716660"/>
            <a:ext cx="4143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&gt; node servidor.js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000125" y="5129956"/>
            <a:ext cx="414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Servidor rodando</a:t>
            </a:r>
            <a:r>
              <a:rPr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Acesse […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].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918900" y="1263250"/>
            <a:ext cx="4471500" cy="47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importa o módulo HTTP do Node.js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require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'http'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configurações de hospedagem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hostname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'127.0.0.1'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4321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cria o servidor HTTP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createServer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configurações da resposta HTTP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statusCode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setHeader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'Content-Type'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'text/plain; charset=utf-8'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servidor começa a escutar a porta configurada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listen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hostname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() </a:t>
            </a:r>
            <a:r>
              <a:rPr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`Servidor rodando. Acesse http://</a:t>
            </a:r>
            <a:r>
              <a:rPr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en-US" sz="10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hostname</a:t>
            </a:r>
            <a:r>
              <a:rPr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en-US" sz="10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 para testar.`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07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809625" y="1057275"/>
            <a:ext cx="1134141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 Ecossistema Full Stack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581025" y="1057275"/>
            <a:ext cx="57150" cy="5524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581025" y="2507158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A Visão Geral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581025" y="2954833"/>
            <a:ext cx="5276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Dominar JavaScript significa controlar toda a pilha de desenvolvimento.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581025" y="4324350"/>
            <a:ext cx="5276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Você conecta a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Interface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(Front-end) ao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Servidor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(Back-end) usando uma única linguagem universal.</a:t>
            </a:r>
            <a:endParaRPr/>
          </a:p>
        </p:txBody>
      </p:sp>
      <p:pic>
        <p:nvPicPr>
          <p:cNvPr descr="image.png" id="233" name="Google Shape;23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0250"/>
            <a:ext cx="525780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3901500" y="2851800"/>
            <a:ext cx="4389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